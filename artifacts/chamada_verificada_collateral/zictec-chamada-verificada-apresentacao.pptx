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1">
                <a:solidFill>
                  <a:srgbClr val="FFB299"/>
                </a:solidFill>
                <a:latin typeface="Aptos"/>
              </a:rPr>
              <a:t>ZICTEC · STIR/SHAKEN · ORIGEM VERIFICADA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Autenticação de chamadas para reduzir risco e preparar Origem Verificada</a:t>
            </a:r>
          </a:p>
        </p:txBody>
      </p:sp>
      <p:pic>
        <p:nvPicPr>
          <p:cNvPr id="5" name="Picture 4" descr="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B4B4C6"/>
                </a:solidFill>
                <a:latin typeface="Aptos"/>
              </a:rPr>
              <a:t>ZICTEC · Chamada Verificada · material técnico-comercial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53949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Pacotes comerciais e técnicos para sair do conceito para implantação real: API, ProSBC, ISBC Cloud, homologação e go-live assistido.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971800"/>
            <a:ext cx="2148840" cy="658368"/>
          </a:xfrm>
          <a:prstGeom prst="roundRect">
            <a:avLst/>
          </a:prstGeom>
          <a:solidFill>
            <a:srgbClr val="24215F"/>
          </a:solidFill>
          <a:ln w="12700">
            <a:solidFill>
              <a:srgbClr val="242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081528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Aptos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319272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cumprir requisito regulatório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4952" y="2971800"/>
            <a:ext cx="2148840" cy="658368"/>
          </a:xfrm>
          <a:prstGeom prst="roundRect">
            <a:avLst/>
          </a:prstGeom>
          <a:solidFill>
            <a:srgbClr val="24215F"/>
          </a:solidFill>
          <a:ln w="12700">
            <a:solidFill>
              <a:srgbClr val="242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3081528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Aptos"/>
              </a:rPr>
              <a:t>Operate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3319272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SaaS/ISBC e relatórios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886200"/>
            <a:ext cx="2148840" cy="658368"/>
          </a:xfrm>
          <a:prstGeom prst="roundRect">
            <a:avLst/>
          </a:prstGeom>
          <a:solidFill>
            <a:srgbClr val="24215F"/>
          </a:solidFill>
          <a:ln w="12700">
            <a:solidFill>
              <a:srgbClr val="242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995928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Aptos"/>
              </a:rPr>
              <a:t>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233672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ProSBC +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4952" y="3886200"/>
            <a:ext cx="2148840" cy="658368"/>
          </a:xfrm>
          <a:prstGeom prst="roundRect">
            <a:avLst/>
          </a:prstGeom>
          <a:solidFill>
            <a:srgbClr val="24215F"/>
          </a:solidFill>
          <a:ln w="12700">
            <a:solidFill>
              <a:srgbClr val="242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82112" y="3995928"/>
            <a:ext cx="822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FF5A1F"/>
                </a:solidFill>
                <a:latin typeface="Aptos"/>
              </a:rPr>
              <a:t>Modernize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4233672"/>
            <a:ext cx="1783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servidor e expansão</a:t>
            </a:r>
          </a:p>
        </p:txBody>
      </p:sp>
      <p:pic>
        <p:nvPicPr>
          <p:cNvPr id="20" name="Picture 19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43000"/>
            <a:ext cx="4937760" cy="49377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720840" y="5212080"/>
            <a:ext cx="4297680" cy="749808"/>
          </a:xfrm>
          <a:prstGeom prst="roundRect">
            <a:avLst/>
          </a:prstGeom>
          <a:solidFill>
            <a:srgbClr val="2C266B"/>
          </a:solidFill>
          <a:ln w="12700">
            <a:solidFill>
              <a:srgbClr val="2C2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5422392"/>
            <a:ext cx="37490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ptos"/>
              </a:rPr>
              <a:t>Princípio central: Origem Verificada depende de Autenticação.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1B1648"/>
                </a:solidFill>
                <a:latin typeface="Aptos"/>
              </a:rPr>
              <a:t>O problema: confiança da chamada virou requisito operacional</a:t>
            </a:r>
          </a:p>
        </p:txBody>
      </p:sp>
      <p:pic>
        <p:nvPicPr>
          <p:cNvPr id="4" name="Picture 3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57A"/>
                </a:solidFill>
                <a:latin typeface="Aptos"/>
              </a:rPr>
              <a:t>ZICTEC · Chamada Verificada · material técnico-comercial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Risco na origem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7"/>
            <a:ext cx="2880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Uso indevido de números, contestação e bloqueios exigem rastreabilidade.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423160"/>
          </a:xfrm>
          <a:prstGeom prst="roundRect">
            <a:avLst/>
          </a:prstGeom>
          <a:solidFill>
            <a:srgbClr val="1B1648"/>
          </a:solidFill>
          <a:ln w="12700">
            <a:solidFill>
              <a:srgbClr val="1B1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75688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Regulação e ecossistema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24327"/>
            <a:ext cx="2880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Autenticação depende de aderência técnica, credenciais e homologação.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74519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Compra incompleta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24327"/>
            <a:ext cx="2880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Setup, licença, API, ISBC e hardware precisam ser separados para evitar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1B1648"/>
                </a:solidFill>
                <a:latin typeface="Aptos"/>
              </a:rPr>
              <a:t>Conceitos essenciais</a:t>
            </a:r>
          </a:p>
        </p:txBody>
      </p:sp>
      <p:pic>
        <p:nvPicPr>
          <p:cNvPr id="4" name="Picture 3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57A"/>
                </a:solidFill>
                <a:latin typeface="Aptos"/>
              </a:rPr>
              <a:t>ZICTEC · Chamada Verificada · material técnico-comercial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063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21408"/>
            <a:ext cx="411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700" b="1">
                <a:solidFill>
                  <a:srgbClr val="FF5A1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05740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1B1648"/>
                </a:solidFill>
                <a:latin typeface="Aptos"/>
              </a:rPr>
              <a:t>STIR/SHAKEN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97480"/>
            <a:ext cx="25603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66657A"/>
                </a:solidFill>
                <a:latin typeface="Aptos"/>
              </a:rPr>
              <a:t>Protocolo/tecnologia de assinatura e validação da origem.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60604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3000" b="1">
                <a:solidFill>
                  <a:srgbClr val="FF5A1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20240"/>
            <a:ext cx="3063240" cy="2011680"/>
          </a:xfrm>
          <a:prstGeom prst="roundRect">
            <a:avLst/>
          </a:prstGeom>
          <a:solidFill>
            <a:srgbClr val="1B1648"/>
          </a:solidFill>
          <a:ln w="1270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121408"/>
            <a:ext cx="411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700" b="1">
                <a:solidFill>
                  <a:srgbClr val="FF5A1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05740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Autenticação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697480"/>
            <a:ext cx="25603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Envio de chamadas em interconexões autenticadas conforme regras operacionais.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06040"/>
            <a:ext cx="411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3000" b="1">
                <a:solidFill>
                  <a:srgbClr val="FF5A1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920240"/>
            <a:ext cx="3063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121408"/>
            <a:ext cx="411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700" b="1">
                <a:solidFill>
                  <a:srgbClr val="FF5A1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205740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800" b="1">
                <a:solidFill>
                  <a:srgbClr val="1B1648"/>
                </a:solidFill>
                <a:latin typeface="Aptos"/>
              </a:rPr>
              <a:t>Origem Verificada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697480"/>
            <a:ext cx="25603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00" b="0">
                <a:solidFill>
                  <a:srgbClr val="66657A"/>
                </a:solidFill>
                <a:latin typeface="Aptos"/>
              </a:rPr>
              <a:t>Camada de identificação/branded call com marca, logo e campanha.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709160"/>
            <a:ext cx="9966960" cy="777240"/>
          </a:xfrm>
          <a:prstGeom prst="roundRect">
            <a:avLst/>
          </a:prstGeom>
          <a:solidFill>
            <a:srgbClr val="FFF1EA"/>
          </a:solidFill>
          <a:ln w="12700">
            <a:solidFill>
              <a:srgbClr val="FFF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956048"/>
            <a:ext cx="9509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400" b="1">
                <a:solidFill>
                  <a:srgbClr val="171729"/>
                </a:solidFill>
                <a:latin typeface="Aptos"/>
              </a:rPr>
              <a:t>Identificação depende de Autenticação. Primeiro a chamada precisa ser confiável; depois pode receber camada de marca/campanha.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1B1648"/>
                </a:solidFill>
                <a:latin typeface="Aptos"/>
              </a:rPr>
              <a:t>Ecossistema ZICTEC: quatro formas de consumir</a:t>
            </a:r>
          </a:p>
        </p:txBody>
      </p:sp>
      <p:pic>
        <p:nvPicPr>
          <p:cNvPr id="4" name="Picture 3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57A"/>
                </a:solidFill>
                <a:latin typeface="Aptos"/>
              </a:rPr>
              <a:t>ZICTEC · Chamada Verificada · material técnico-comercial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25420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ir-shaken-starter-as-oob-saas-anual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874519"/>
            <a:ext cx="205740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" y="3502152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FF5A1F"/>
                </a:solidFill>
                <a:latin typeface="Aptos"/>
              </a:rPr>
              <a:t>SAAS + SIP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79476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>
                <a:solidFill>
                  <a:srgbClr val="1B1648"/>
                </a:solidFill>
                <a:latin typeface="Aptos"/>
              </a:rPr>
              <a:t>Starter AS-OOB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4434840"/>
            <a:ext cx="2057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80" b="0">
                <a:solidFill>
                  <a:srgbClr val="66657A"/>
                </a:solidFill>
                <a:latin typeface="Aptos"/>
              </a:rPr>
              <a:t>ISBC Cloud para suporte SIP consumindo API ZICTEC.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00200"/>
            <a:ext cx="25420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tir-shaken-api-rest-tools-zict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874519"/>
            <a:ext cx="205740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502152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FF5A1F"/>
                </a:solidFill>
                <a:latin typeface="Aptos"/>
              </a:rPr>
              <a:t>API SEM SIP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9476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>
                <a:solidFill>
                  <a:srgbClr val="1B1648"/>
                </a:solidFill>
                <a:latin typeface="Aptos"/>
              </a:rPr>
              <a:t>API REST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434840"/>
            <a:ext cx="2057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80" b="0">
                <a:solidFill>
                  <a:srgbClr val="66657A"/>
                </a:solidFill>
                <a:latin typeface="Aptos"/>
              </a:rPr>
              <a:t>Licença anual para SBCs/softswitches compatíveis.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1600200"/>
            <a:ext cx="25420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ir-shaken-client-prosbc-zict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874519"/>
            <a:ext cx="2057400" cy="1417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92824" y="3502152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FF5A1F"/>
                </a:solidFill>
                <a:latin typeface="Aptos"/>
              </a:rPr>
              <a:t>CLIENT PROSBC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79476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>
                <a:solidFill>
                  <a:srgbClr val="1B1648"/>
                </a:solidFill>
                <a:latin typeface="Aptos"/>
              </a:rPr>
              <a:t>Client local por SBC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4434840"/>
            <a:ext cx="2057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80" b="0">
                <a:solidFill>
                  <a:srgbClr val="66657A"/>
                </a:solidFill>
                <a:latin typeface="Aptos"/>
              </a:rPr>
              <a:t>Script/cliente proprietário instalado no ProSBC.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600200"/>
            <a:ext cx="25420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tir-shaken-bundle-hibrido-api-client-pros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1874519"/>
            <a:ext cx="2057400" cy="1417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82328" y="3502152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1">
                <a:solidFill>
                  <a:srgbClr val="FF5A1F"/>
                </a:solidFill>
                <a:latin typeface="Aptos"/>
              </a:rPr>
              <a:t>BUNDLE HÍBRIDO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3794760"/>
            <a:ext cx="2057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500" b="1">
                <a:solidFill>
                  <a:srgbClr val="1B1648"/>
                </a:solidFill>
                <a:latin typeface="Aptos"/>
              </a:rPr>
              <a:t>API + Client ProSBC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4434840"/>
            <a:ext cx="2057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080" b="0">
                <a:solidFill>
                  <a:srgbClr val="66657A"/>
                </a:solidFill>
                <a:latin typeface="Aptos"/>
              </a:rPr>
              <a:t>Combina API REST SaaS + cliente ProSBC.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1B1648"/>
                </a:solidFill>
                <a:latin typeface="Aptos"/>
              </a:rPr>
              <a:t>Oferta em caminhos simples</a:t>
            </a:r>
          </a:p>
        </p:txBody>
      </p:sp>
      <p:pic>
        <p:nvPicPr>
          <p:cNvPr id="4" name="Picture 3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57A"/>
                </a:solidFill>
                <a:latin typeface="Aptos"/>
              </a:rPr>
              <a:t>ZICTEC · Chamada Verificada · material técnico-comercial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82496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A · Setup pontual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31136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Implantação, UAT/homologação e go-live. Serviço, não licença.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81328"/>
            <a:ext cx="3337560" cy="1417320"/>
          </a:xfrm>
          <a:prstGeom prst="roundRect">
            <a:avLst/>
          </a:prstGeom>
          <a:solidFill>
            <a:srgbClr val="1B1648"/>
          </a:solidFill>
          <a:ln w="12700">
            <a:solidFill>
              <a:srgbClr val="1B1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82496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B · SaaS + SIP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31136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Starter AS-OOB SaaS com ISBC Cloud, setup promocionalmente isento.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81328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682496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C · API direta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231136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Tools/API REST para integração direta, sem SIP/ISBC.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55848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57016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D · Client ProSBC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05656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Licença anual por SBC; no primeiro SBC normalmente combina com setup.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355848"/>
            <a:ext cx="3337560" cy="1417320"/>
          </a:xfrm>
          <a:prstGeom prst="roundRect">
            <a:avLst/>
          </a:prstGeom>
          <a:solidFill>
            <a:srgbClr val="1B1648"/>
          </a:solidFill>
          <a:ln w="12700">
            <a:solidFill>
              <a:srgbClr val="1B1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557016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Pacote 1º SBC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105656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SETUP + Client ProSBC 1 ano com desconto promocional.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355848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3557016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Modernize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105656"/>
            <a:ext cx="2880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Servidor + 500 sessões + setup + client quando precisa base funcional.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1B1648"/>
                </a:solidFill>
                <a:latin typeface="Aptos"/>
              </a:rPr>
              <a:t>Matriz de recomendação comercial</a:t>
            </a:r>
          </a:p>
        </p:txBody>
      </p:sp>
      <p:pic>
        <p:nvPicPr>
          <p:cNvPr id="4" name="Picture 3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57A"/>
                </a:solidFill>
                <a:latin typeface="Aptos"/>
              </a:rPr>
              <a:t>ZICTEC · Chamada Verificada · material técnico-comercial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8356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383280"/>
                <a:gridCol w="4160520"/>
              </a:tblGrid>
              <a:tr h="646611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Sinal do cliente</a:t>
                      </a:r>
                    </a:p>
                  </a:txBody>
                  <a:tcPr>
                    <a:solidFill>
                      <a:srgbClr val="1B16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SKU / pacote</a:t>
                      </a:r>
                    </a:p>
                  </a:txBody>
                  <a:tcPr>
                    <a:solidFill>
                      <a:srgbClr val="1B16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Oferta sugerida</a:t>
                      </a:r>
                    </a:p>
                  </a:txBody>
                  <a:tcPr>
                    <a:solidFill>
                      <a:srgbClr val="1B164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Precisa SIP/ISBC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SAAS_STIAS_</a:t>
                      </a:r>
                    </a:p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OOB_A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Starter AS-OOB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Consumo REST direto</a:t>
                      </a:r>
                    </a:p>
                  </a:txBody>
                  <a:tcPr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ZT_STIAS_</a:t>
                      </a:r>
                    </a:p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API_A</a:t>
                      </a:r>
                    </a:p>
                  </a:txBody>
                  <a:tcPr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API REST Tools</a:t>
                      </a:r>
                    </a:p>
                  </a:txBody>
                  <a:tcPr>
                    <a:solidFill>
                      <a:srgbClr val="FFF1E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ProSBC adicional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ZT_STIAS_PROSBC_</a:t>
                      </a:r>
                    </a:p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CLIENT_A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Client ProSBC por SBC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1º ProSBC sem servidor</a:t>
                      </a:r>
                    </a:p>
                  </a:txBody>
                  <a:tcPr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ZT_STIAS_PROSBC_</a:t>
                      </a:r>
                    </a:p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SETUP_CLIENT_A</a:t>
                      </a:r>
                    </a:p>
                  </a:txBody>
                  <a:tcPr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Setup + Client</a:t>
                      </a:r>
                    </a:p>
                  </a:txBody>
                  <a:tcPr>
                    <a:solidFill>
                      <a:srgbClr val="FFF1E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Servidor funcional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ZT_PROSBC_HW500_</a:t>
                      </a:r>
                    </a:p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STIAS_SETUP_CLIENT_A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Server + 500 + Setup +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Híbrido completo</a:t>
                      </a:r>
                    </a:p>
                  </a:txBody>
                  <a:tcPr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ZT_PROSBC_HW500_</a:t>
                      </a:r>
                    </a:p>
                    <a:p>
                      <a:r>
                        <a:rPr sz="819" b="1">
                          <a:solidFill>
                            <a:srgbClr val="FF5A1F"/>
                          </a:solidFill>
                        </a:rPr>
                        <a:t>STIAS_HYBRID_API_A</a:t>
                      </a:r>
                    </a:p>
                  </a:txBody>
                  <a:tcPr>
                    <a:solidFill>
                      <a:srgbClr val="FF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0">
                          <a:solidFill>
                            <a:srgbClr val="171729"/>
                          </a:solidFill>
                        </a:rPr>
                        <a:t>Server + Client + API Tools</a:t>
                      </a:r>
                    </a:p>
                  </a:txBody>
                  <a:tcPr>
                    <a:solidFill>
                      <a:srgbClr val="FF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1B1648"/>
                </a:solidFill>
                <a:latin typeface="Aptos"/>
              </a:rPr>
              <a:t>Jornada ideal do cliente</a:t>
            </a:r>
          </a:p>
        </p:txBody>
      </p:sp>
      <p:pic>
        <p:nvPicPr>
          <p:cNvPr id="4" name="Picture 3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57A"/>
                </a:solidFill>
                <a:latin typeface="Aptos"/>
              </a:rPr>
              <a:t>ZICTEC · Chamada Verificada · material técnico-comercial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2920" cy="502920"/>
          </a:xfrm>
          <a:prstGeom prst="roundRect">
            <a:avLst/>
          </a:prstGeom>
          <a:solidFill>
            <a:srgbClr val="FF5A1F"/>
          </a:solidFill>
          <a:ln w="1270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45336"/>
            <a:ext cx="182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27048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1B1648"/>
                </a:solidFill>
                <a:latin typeface="Aptos"/>
              </a:rPr>
              <a:t>Educar em 2 minutos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58568"/>
            <a:ext cx="502920" cy="502920"/>
          </a:xfrm>
          <a:prstGeom prst="roundRect">
            <a:avLst/>
          </a:prstGeom>
          <a:solidFill>
            <a:srgbClr val="FF5A1F"/>
          </a:solidFill>
          <a:ln w="1270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86584"/>
            <a:ext cx="182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68296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1B1648"/>
                </a:solidFill>
                <a:latin typeface="Aptos"/>
              </a:rPr>
              <a:t>Escolher objetivo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99816"/>
            <a:ext cx="502920" cy="502920"/>
          </a:xfrm>
          <a:prstGeom prst="roundRect">
            <a:avLst/>
          </a:prstGeom>
          <a:solidFill>
            <a:srgbClr val="FF5A1F"/>
          </a:solidFill>
          <a:ln w="1270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27832"/>
            <a:ext cx="182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09544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1B1648"/>
                </a:solidFill>
                <a:latin typeface="Aptos"/>
              </a:rPr>
              <a:t>Responder checklist técnico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41064"/>
            <a:ext cx="502920" cy="502920"/>
          </a:xfrm>
          <a:prstGeom prst="roundRect">
            <a:avLst/>
          </a:prstGeom>
          <a:solidFill>
            <a:srgbClr val="FF5A1F"/>
          </a:solidFill>
          <a:ln w="1270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069080"/>
            <a:ext cx="182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50792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1B1648"/>
                </a:solidFill>
                <a:latin typeface="Aptos"/>
              </a:rPr>
              <a:t>Receber pacote recomendado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82312"/>
            <a:ext cx="502920" cy="502920"/>
          </a:xfrm>
          <a:prstGeom prst="roundRect">
            <a:avLst/>
          </a:prstGeom>
          <a:solidFill>
            <a:srgbClr val="FF5A1F"/>
          </a:solidFill>
          <a:ln w="1270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910328"/>
            <a:ext cx="1828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892040"/>
            <a:ext cx="4023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600" b="1">
                <a:solidFill>
                  <a:srgbClr val="1B1648"/>
                </a:solidFill>
                <a:latin typeface="Aptos"/>
              </a:rPr>
              <a:t>Checkout ou lead qualificado</a:t>
            </a:r>
          </a:p>
        </p:txBody>
      </p:sp>
      <p:pic>
        <p:nvPicPr>
          <p:cNvPr id="21" name="Picture 20" descr="techn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4663440" cy="2705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1B1648"/>
                </a:solidFill>
                <a:latin typeface="Aptos"/>
              </a:rPr>
              <a:t>Checklist de contratação / kickoff</a:t>
            </a:r>
          </a:p>
        </p:txBody>
      </p:sp>
      <p:pic>
        <p:nvPicPr>
          <p:cNvPr id="4" name="Picture 3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57A"/>
                </a:solidFill>
                <a:latin typeface="Aptos"/>
              </a:rPr>
              <a:t>ZICTEC · Chamada Verificada · material técnico-comercial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Cliente e regulatório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7"/>
            <a:ext cx="2880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Razão social, CNPJ, responsável técnico, status ABR e credenciais.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75688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Topologia e tráfego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24327"/>
            <a:ext cx="2880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SBC/vendor, rotas, volumetria, IN-BAND/OUT-OF-BAND e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74519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Operação e aceite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24327"/>
            <a:ext cx="2880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Relatórios, suporte pós-go-live, premissas fora de escopo e critério de aceite.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1B1648"/>
                </a:solidFill>
                <a:latin typeface="Aptos"/>
              </a:rPr>
              <a:t>Pacotes e valores de referência</a:t>
            </a:r>
          </a:p>
        </p:txBody>
      </p:sp>
      <p:pic>
        <p:nvPicPr>
          <p:cNvPr id="4" name="Picture 3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57A"/>
                </a:solidFill>
                <a:latin typeface="Aptos"/>
              </a:rPr>
              <a:t>ZICTEC · Chamada Verificada · material técnico-comercial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26974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FF5A1F"/>
                </a:solidFill>
                <a:latin typeface="Aptos"/>
              </a:rPr>
              <a:t>SAAS_STIAS_
OOB_A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20" b="1">
                <a:solidFill>
                  <a:srgbClr val="1B1648"/>
                </a:solidFill>
                <a:latin typeface="Aptos"/>
              </a:rPr>
              <a:t>Starter AS-OOB SaaS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764792"/>
            <a:ext cx="1508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500" b="1">
                <a:solidFill>
                  <a:srgbClr val="1B1648"/>
                </a:solidFill>
                <a:latin typeface="Aptos"/>
              </a:rPr>
              <a:t>R$ 39.000,00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27048"/>
            <a:ext cx="26974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FF5A1F"/>
                </a:solidFill>
                <a:latin typeface="Aptos"/>
              </a:rPr>
              <a:t>ZT_STIAS_API_A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20" b="1">
                <a:solidFill>
                  <a:srgbClr val="1B1648"/>
                </a:solidFill>
                <a:latin typeface="Aptos"/>
              </a:rPr>
              <a:t>API REST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764792"/>
            <a:ext cx="1508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500" b="1">
                <a:solidFill>
                  <a:srgbClr val="1B1648"/>
                </a:solidFill>
                <a:latin typeface="Aptos"/>
              </a:rPr>
              <a:t>R$ 31.200,00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34640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44368"/>
            <a:ext cx="26974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FF5A1F"/>
                </a:solidFill>
                <a:latin typeface="Aptos"/>
              </a:rPr>
              <a:t>ZT_STIAS_PROSBC_
CLIENT_A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6499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20" b="1">
                <a:solidFill>
                  <a:srgbClr val="1B1648"/>
                </a:solidFill>
                <a:latin typeface="Aptos"/>
              </a:rPr>
              <a:t>Client ProSBC anual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82112"/>
            <a:ext cx="1508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500" b="1">
                <a:solidFill>
                  <a:srgbClr val="1B1648"/>
                </a:solidFill>
                <a:latin typeface="Aptos"/>
              </a:rPr>
              <a:t>R$ 12.000,00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40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26974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FF5A1F"/>
                </a:solidFill>
                <a:latin typeface="Aptos"/>
              </a:rPr>
              <a:t>ZT_STIAS_PROSBC_
SETUP_CLIENT_A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36499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20" b="1">
                <a:solidFill>
                  <a:srgbClr val="1B1648"/>
                </a:solidFill>
                <a:latin typeface="Aptos"/>
              </a:rPr>
              <a:t>SETUP + Client 1º 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182112"/>
            <a:ext cx="1508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500" b="1">
                <a:solidFill>
                  <a:srgbClr val="1B1648"/>
                </a:solidFill>
                <a:latin typeface="Aptos"/>
              </a:rPr>
              <a:t>R$ 18.400,04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51960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61688"/>
            <a:ext cx="26974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FF5A1F"/>
                </a:solidFill>
                <a:latin typeface="Aptos"/>
              </a:rPr>
              <a:t>ZT_PROSBC_HW500_
STIAS_SETUP_CLIENT_A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20" b="1">
                <a:solidFill>
                  <a:srgbClr val="1B1648"/>
                </a:solidFill>
                <a:latin typeface="Aptos"/>
              </a:rPr>
              <a:t>Server + 500 + SETUP +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599432"/>
            <a:ext cx="1508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500" b="1">
                <a:solidFill>
                  <a:srgbClr val="1B1648"/>
                </a:solidFill>
                <a:latin typeface="Aptos"/>
              </a:rPr>
              <a:t>R$ 33.864,44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51960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5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361688"/>
            <a:ext cx="26974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80" b="1">
                <a:solidFill>
                  <a:srgbClr val="FF5A1F"/>
                </a:solidFill>
                <a:latin typeface="Aptos"/>
              </a:rPr>
              <a:t>ZT_PROSBC_HW500_
STIAS_HYBRID_API_A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120" b="1">
                <a:solidFill>
                  <a:srgbClr val="1B1648"/>
                </a:solidFill>
                <a:latin typeface="Aptos"/>
              </a:rPr>
              <a:t>Server + Client + API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4599432"/>
            <a:ext cx="1508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/>
            <a:r>
              <a:rPr sz="1500" b="1">
                <a:solidFill>
                  <a:srgbClr val="1B1648"/>
                </a:solidFill>
                <a:latin typeface="Aptos"/>
              </a:rPr>
              <a:t>R$ 49.464,44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989320"/>
            <a:ext cx="10607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/>
            <a:r>
              <a:rPr sz="1000" b="1">
                <a:solidFill>
                  <a:srgbClr val="FF5A1F"/>
                </a:solidFill>
                <a:latin typeface="Aptos"/>
              </a:rPr>
              <a:t>Nota: pacote híbrido 1º ano usa cupom promocional hybrid7800 conforme página do shop.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1B1648"/>
                </a:solidFill>
                <a:latin typeface="Aptos"/>
              </a:rPr>
              <a:t>Premissas e limites de escopo</a:t>
            </a:r>
          </a:p>
        </p:txBody>
      </p:sp>
      <p:pic>
        <p:nvPicPr>
          <p:cNvPr id="4" name="Picture 3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57A"/>
                </a:solidFill>
                <a:latin typeface="Aptos"/>
              </a:rPr>
              <a:t>ZICTEC · Chamada Verificada · material técnico-comercial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4937760" cy="1143000"/>
          </a:xfrm>
          <a:prstGeom prst="roundRect">
            <a:avLst/>
          </a:prstGeom>
          <a:solidFill>
            <a:srgbClr val="1B1648"/>
          </a:solidFill>
          <a:ln w="12700">
            <a:solidFill>
              <a:srgbClr val="1B1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480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Compra inicia validação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Produção depende de ambiente, rotas, credenciais, homologação e aceite.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01368"/>
            <a:ext cx="4480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Setup não é licença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50008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Para ProSBC, setup precisa ser combinado com Client ou pacote fechado.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0040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01568"/>
            <a:ext cx="4480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API ≠ ISBC Cloud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REST direto, SIP via ISBC e Client ProSBC são canais diferentes.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0040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401568"/>
            <a:ext cx="44805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Servidor físico é variação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50208"/>
            <a:ext cx="4480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Pacotes com hardware devem deixar claro o que renova no segundo ano.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76809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Próximo passo comercial</a:t>
            </a:r>
          </a:p>
        </p:txBody>
      </p:sp>
      <p:pic>
        <p:nvPicPr>
          <p:cNvPr id="4" name="Picture 3" descr="logo_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1097280" cy="25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92240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850" b="0">
                <a:solidFill>
                  <a:srgbClr val="B4B4C6"/>
                </a:solidFill>
                <a:latin typeface="Aptos"/>
              </a:rPr>
              <a:t>ZICTEC · Chamada Verificada · material técnico-comercial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7"/>
            <a:ext cx="2880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Usar o configurador para pré-qualificar cenário e SKU.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75688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24327"/>
            <a:ext cx="2880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Copiar briefing para pré-venda/técnico antes do checkout.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74519"/>
            <a:ext cx="3337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75688"/>
            <a:ext cx="2880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700" b="1">
                <a:solidFill>
                  <a:srgbClr val="1B1648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24327"/>
            <a:ext cx="288036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/>
            <a:r>
              <a:rPr sz="1250" b="0">
                <a:solidFill>
                  <a:srgbClr val="66657A"/>
                </a:solidFill>
                <a:latin typeface="Aptos"/>
              </a:rPr>
              <a:t>Direcionar compra direta, validação obrigatória ou proposta formal.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