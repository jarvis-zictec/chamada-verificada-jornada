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FFB299"/>
                </a:solidFill>
                <a:latin typeface="Aptos"/>
              </a:rPr>
              <a:t>ZICTEC · STIR/SHAKEN · ORIGEM VERIFICADA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7680960" cy="7772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ptos"/>
              </a:rPr>
              <a:t>Autenticação de chamadas para reduzir risco e preparar Origem Verificada</a:t>
            </a:r>
          </a:p>
        </p:txBody>
      </p:sp>
      <p:pic>
        <p:nvPicPr>
          <p:cNvPr id="5" name="Picture 4" descr="logo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097280" cy="2593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6492240"/>
            <a:ext cx="731520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B4B4C6"/>
                </a:solidFill>
                <a:latin typeface="Aptos"/>
              </a:rPr>
              <a:t>ZICTEC · Chamada Verificada · material técnico-comercial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691640"/>
            <a:ext cx="5394960" cy="9144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Pacotes comerciais e técnicos para sair do conceito para implantação real: API, ProSBC, ISBC Cloud, homologação e go-live assistido.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2971800"/>
            <a:ext cx="2148840" cy="658368"/>
          </a:xfrm>
          <a:prstGeom prst="roundRect">
            <a:avLst/>
          </a:prstGeom>
          <a:solidFill>
            <a:srgbClr val="24215F"/>
          </a:solidFill>
          <a:ln w="12700">
            <a:solidFill>
              <a:srgbClr val="242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3081528"/>
            <a:ext cx="82296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FF5A1F"/>
                </a:solidFill>
                <a:latin typeface="Aptos"/>
              </a:rPr>
              <a:t>Start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319272"/>
            <a:ext cx="178308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  <a:latin typeface="Aptos"/>
              </a:rPr>
              <a:t>cumprir requisito regulatório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44952" y="2971800"/>
            <a:ext cx="2148840" cy="658368"/>
          </a:xfrm>
          <a:prstGeom prst="roundRect">
            <a:avLst/>
          </a:prstGeom>
          <a:solidFill>
            <a:srgbClr val="24215F"/>
          </a:solidFill>
          <a:ln w="12700">
            <a:solidFill>
              <a:srgbClr val="242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82112" y="3081528"/>
            <a:ext cx="82296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FF5A1F"/>
                </a:solidFill>
                <a:latin typeface="Aptos"/>
              </a:rPr>
              <a:t>Operate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82112" y="3319272"/>
            <a:ext cx="178308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  <a:latin typeface="Aptos"/>
              </a:rPr>
              <a:t>SaaS/ISBC e relatórios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886200"/>
            <a:ext cx="2148840" cy="658368"/>
          </a:xfrm>
          <a:prstGeom prst="roundRect">
            <a:avLst/>
          </a:prstGeom>
          <a:solidFill>
            <a:srgbClr val="24215F"/>
          </a:solidFill>
          <a:ln w="12700">
            <a:solidFill>
              <a:srgbClr val="242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3995928"/>
            <a:ext cx="82296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FF5A1F"/>
                </a:solidFill>
                <a:latin typeface="Aptos"/>
              </a:rPr>
              <a:t>Hybrid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4233672"/>
            <a:ext cx="178308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  <a:latin typeface="Aptos"/>
              </a:rPr>
              <a:t>ProSBC + API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44952" y="3886200"/>
            <a:ext cx="2148840" cy="658368"/>
          </a:xfrm>
          <a:prstGeom prst="roundRect">
            <a:avLst/>
          </a:prstGeom>
          <a:solidFill>
            <a:srgbClr val="24215F"/>
          </a:solidFill>
          <a:ln w="12700">
            <a:solidFill>
              <a:srgbClr val="242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82112" y="3995928"/>
            <a:ext cx="82296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FF5A1F"/>
                </a:solidFill>
                <a:latin typeface="Aptos"/>
              </a:rPr>
              <a:t>Modernize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82112" y="4233672"/>
            <a:ext cx="178308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  <a:latin typeface="Aptos"/>
              </a:rPr>
              <a:t>servidor e expansão</a:t>
            </a:r>
          </a:p>
        </p:txBody>
      </p:sp>
      <p:pic>
        <p:nvPicPr>
          <p:cNvPr id="20" name="Picture 19" descr="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143000"/>
            <a:ext cx="4937760" cy="493776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6720840" y="5212080"/>
            <a:ext cx="4297680" cy="749808"/>
          </a:xfrm>
          <a:prstGeom prst="roundRect">
            <a:avLst/>
          </a:prstGeom>
          <a:solidFill>
            <a:srgbClr val="2C266B"/>
          </a:solidFill>
          <a:ln w="12700">
            <a:solidFill>
              <a:srgbClr val="2C26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67728" y="5422392"/>
            <a:ext cx="3749039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Aptos"/>
              </a:rPr>
              <a:t>Princípio central: Origem Verificada depende de Autenticação.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7680960" cy="7772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B1648"/>
                </a:solidFill>
                <a:latin typeface="Aptos"/>
              </a:rPr>
              <a:t>O problema: confiança da chamada virou requisito operacional</a:t>
            </a:r>
          </a:p>
        </p:txBody>
      </p:sp>
      <p:pic>
        <p:nvPicPr>
          <p:cNvPr id="4" name="Picture 3" descr="logo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097280" cy="2593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6492240"/>
            <a:ext cx="731520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66657A"/>
                </a:solidFill>
                <a:latin typeface="Aptos"/>
              </a:rPr>
              <a:t>ZICTEC · Chamada Verificada · material técnico-comercial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33375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75688"/>
            <a:ext cx="2880360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B1648"/>
                </a:solidFill>
                <a:latin typeface="Aptos"/>
              </a:rPr>
              <a:t>Risco na origem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24327"/>
            <a:ext cx="2880360" cy="15087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66657A"/>
                </a:solidFill>
                <a:latin typeface="Aptos"/>
              </a:rPr>
              <a:t>Uso indevido de números, contestação e bloqueios exigem rastreabilidade.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874519"/>
            <a:ext cx="3337560" cy="2423160"/>
          </a:xfrm>
          <a:prstGeom prst="roundRect">
            <a:avLst/>
          </a:prstGeom>
          <a:solidFill>
            <a:srgbClr val="1B1648"/>
          </a:solidFill>
          <a:ln w="12700">
            <a:solidFill>
              <a:srgbClr val="1B16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075688"/>
            <a:ext cx="2880360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Regulação e ecossistema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24327"/>
            <a:ext cx="2880360" cy="15087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Aptos"/>
              </a:rPr>
              <a:t>Autenticação depende de aderência técnica, credenciais e homologação.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874519"/>
            <a:ext cx="33375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075688"/>
            <a:ext cx="2880360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B1648"/>
                </a:solidFill>
                <a:latin typeface="Aptos"/>
              </a:rPr>
              <a:t>Compra incompleta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624327"/>
            <a:ext cx="2880360" cy="15087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66657A"/>
                </a:solidFill>
                <a:latin typeface="Aptos"/>
              </a:rPr>
              <a:t>Setup, licença, API, ISBC e hardware precisam ser separados para evitar gaps.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7680960" cy="7772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B1648"/>
                </a:solidFill>
                <a:latin typeface="Aptos"/>
              </a:rPr>
              <a:t>Conceitos essenciais</a:t>
            </a:r>
          </a:p>
        </p:txBody>
      </p:sp>
      <p:pic>
        <p:nvPicPr>
          <p:cNvPr id="4" name="Picture 3" descr="logo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097280" cy="2593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6492240"/>
            <a:ext cx="731520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66657A"/>
                </a:solidFill>
                <a:latin typeface="Aptos"/>
              </a:rPr>
              <a:t>ZICTEC · Chamada Verificada · material técnico-comercial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0632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121408"/>
            <a:ext cx="411480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700" b="1">
                <a:solidFill>
                  <a:srgbClr val="FF5A1F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4752" y="2057400"/>
            <a:ext cx="2103120" cy="3200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800" b="1">
                <a:solidFill>
                  <a:srgbClr val="1B1648"/>
                </a:solidFill>
                <a:latin typeface="Aptos"/>
              </a:rPr>
              <a:t>STIR/SHAKEN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697480"/>
            <a:ext cx="2560320" cy="8229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66657A"/>
                </a:solidFill>
                <a:latin typeface="Aptos"/>
              </a:rPr>
              <a:t>Protocolo/tecnologia de assinatura e validação da origem.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2606040"/>
            <a:ext cx="411480" cy="3200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3000" b="1">
                <a:solidFill>
                  <a:srgbClr val="FF5A1F"/>
                </a:solidFill>
                <a:latin typeface="Apto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1920240"/>
            <a:ext cx="3063240" cy="2011680"/>
          </a:xfrm>
          <a:prstGeom prst="roundRect">
            <a:avLst/>
          </a:prstGeom>
          <a:solidFill>
            <a:srgbClr val="1B1648"/>
          </a:solidFill>
          <a:ln w="12700">
            <a:solidFill>
              <a:srgbClr val="FF5A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27448" y="2121408"/>
            <a:ext cx="411480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700" b="1">
                <a:solidFill>
                  <a:srgbClr val="FF5A1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9512" y="2057400"/>
            <a:ext cx="2103120" cy="3200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Autenticação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82312" y="2697480"/>
            <a:ext cx="2560320" cy="8229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ptos"/>
              </a:rPr>
              <a:t>Envio de chamadas em interconexões autenticadas conforme regras operacionais.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2606040"/>
            <a:ext cx="411480" cy="3200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3000" b="1">
                <a:solidFill>
                  <a:srgbClr val="FF5A1F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1920240"/>
            <a:ext cx="30632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22208" y="2121408"/>
            <a:ext cx="411480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700" b="1">
                <a:solidFill>
                  <a:srgbClr val="FF5A1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4272" y="2057400"/>
            <a:ext cx="2103120" cy="3200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800" b="1">
                <a:solidFill>
                  <a:srgbClr val="1B1648"/>
                </a:solidFill>
                <a:latin typeface="Aptos"/>
              </a:rPr>
              <a:t>Origem Verificada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77072" y="2697480"/>
            <a:ext cx="2560320" cy="8229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66657A"/>
                </a:solidFill>
                <a:latin typeface="Aptos"/>
              </a:rPr>
              <a:t>Camada de identificação/branded call com marca, logo e campanha.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97280" y="4709160"/>
            <a:ext cx="9966960" cy="777240"/>
          </a:xfrm>
          <a:prstGeom prst="roundRect">
            <a:avLst/>
          </a:prstGeom>
          <a:solidFill>
            <a:srgbClr val="FFF1EA"/>
          </a:solidFill>
          <a:ln w="12700">
            <a:solidFill>
              <a:srgbClr val="FFF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25880" y="4956048"/>
            <a:ext cx="950976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71729"/>
                </a:solidFill>
                <a:latin typeface="Aptos"/>
              </a:rPr>
              <a:t>Identificação depende de Autenticação. Primeiro a chamada precisa ser confiável; depois pode receber camada de marca/campanha.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7680960" cy="7772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B1648"/>
                </a:solidFill>
                <a:latin typeface="Aptos"/>
              </a:rPr>
              <a:t>Ecossistema ZICTEC: quatro formas de consumir</a:t>
            </a:r>
          </a:p>
        </p:txBody>
      </p:sp>
      <p:pic>
        <p:nvPicPr>
          <p:cNvPr id="4" name="Picture 3" descr="logo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097280" cy="2593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6492240"/>
            <a:ext cx="731520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66657A"/>
                </a:solidFill>
                <a:latin typeface="Aptos"/>
              </a:rPr>
              <a:t>ZICTEC · Chamada Verificada · material técnico-comercial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2542032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5A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ir-shaken-starter-as-oob-saas-anual-m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874519"/>
            <a:ext cx="2057400" cy="1417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" y="3502152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50" b="1">
                <a:solidFill>
                  <a:srgbClr val="FF5A1F"/>
                </a:solidFill>
                <a:latin typeface="Aptos"/>
              </a:rPr>
              <a:t>SAAS + SIP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3794760"/>
            <a:ext cx="2057400" cy="5029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B1648"/>
                </a:solidFill>
                <a:latin typeface="Aptos"/>
              </a:rPr>
              <a:t>Starter AS-OOB SaaS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" y="4434840"/>
            <a:ext cx="2057400" cy="8229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80" b="0">
                <a:solidFill>
                  <a:srgbClr val="66657A"/>
                </a:solidFill>
                <a:latin typeface="Aptos"/>
              </a:rPr>
              <a:t>ISBC Cloud para suporte SIP consumindo API ZICTEC.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6432" y="1600200"/>
            <a:ext cx="2542032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tir-shaken-api-rest-tools-zicte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5032" y="1874519"/>
            <a:ext cx="2057400" cy="1417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502152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50" b="1">
                <a:solidFill>
                  <a:srgbClr val="FF5A1F"/>
                </a:solidFill>
                <a:latin typeface="Aptos"/>
              </a:rPr>
              <a:t>API SEM SIP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3794760"/>
            <a:ext cx="2057400" cy="5029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B1648"/>
                </a:solidFill>
                <a:latin typeface="Aptos"/>
              </a:rPr>
              <a:t>API REST 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4434840"/>
            <a:ext cx="2057400" cy="8229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80" b="0">
                <a:solidFill>
                  <a:srgbClr val="66657A"/>
                </a:solidFill>
                <a:latin typeface="Aptos"/>
              </a:rPr>
              <a:t>Licença anual para SBCs/softswitches compatíveis.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45936" y="1600200"/>
            <a:ext cx="2542032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tir-shaken-client-prosbc-zicte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4536" y="1874519"/>
            <a:ext cx="2057400" cy="1417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92824" y="3502152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50" b="1">
                <a:solidFill>
                  <a:srgbClr val="FF5A1F"/>
                </a:solidFill>
                <a:latin typeface="Aptos"/>
              </a:rPr>
              <a:t>CLIENT PROSBC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2824" y="3794760"/>
            <a:ext cx="2057400" cy="5029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B1648"/>
                </a:solidFill>
                <a:latin typeface="Aptos"/>
              </a:rPr>
              <a:t>Client local por SBC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2824" y="4434840"/>
            <a:ext cx="2057400" cy="8229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80" b="0">
                <a:solidFill>
                  <a:srgbClr val="66657A"/>
                </a:solidFill>
                <a:latin typeface="Aptos"/>
              </a:rPr>
              <a:t>Script/cliente proprietário instalado no ProSBC.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35440" y="1600200"/>
            <a:ext cx="2542032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tir-shaken-bundle-hibrido-api-client-prosb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64040" y="1874519"/>
            <a:ext cx="2057400" cy="1417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482328" y="3502152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50" b="1">
                <a:solidFill>
                  <a:srgbClr val="FF5A1F"/>
                </a:solidFill>
                <a:latin typeface="Aptos"/>
              </a:rPr>
              <a:t>BUNDLE HÍBRIDO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82328" y="3794760"/>
            <a:ext cx="2057400" cy="5029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B1648"/>
                </a:solidFill>
                <a:latin typeface="Aptos"/>
              </a:rPr>
              <a:t>API + Client ProSBC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82328" y="4434840"/>
            <a:ext cx="2057400" cy="8229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80" b="0">
                <a:solidFill>
                  <a:srgbClr val="66657A"/>
                </a:solidFill>
                <a:latin typeface="Aptos"/>
              </a:rPr>
              <a:t>Combina API REST SaaS + cliente ProSBC.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7680960" cy="7772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B1648"/>
                </a:solidFill>
                <a:latin typeface="Aptos"/>
              </a:rPr>
              <a:t>Oferta em caminhos simples</a:t>
            </a:r>
          </a:p>
        </p:txBody>
      </p:sp>
      <p:pic>
        <p:nvPicPr>
          <p:cNvPr id="4" name="Picture 3" descr="logo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097280" cy="2593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6492240"/>
            <a:ext cx="731520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66657A"/>
                </a:solidFill>
                <a:latin typeface="Aptos"/>
              </a:rPr>
              <a:t>ZICTEC · Chamada Verificada · material técnico-comercial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81328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82496"/>
            <a:ext cx="2880360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B1648"/>
                </a:solidFill>
                <a:latin typeface="Aptos"/>
              </a:rPr>
              <a:t>A · Setup pontual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231136"/>
            <a:ext cx="2880360" cy="5029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66657A"/>
                </a:solidFill>
                <a:latin typeface="Aptos"/>
              </a:rPr>
              <a:t>Implantação, UAT/homologação e go-live. Serviço, não licença.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481328"/>
            <a:ext cx="3337560" cy="1417320"/>
          </a:xfrm>
          <a:prstGeom prst="roundRect">
            <a:avLst/>
          </a:prstGeom>
          <a:solidFill>
            <a:srgbClr val="1B1648"/>
          </a:solidFill>
          <a:ln w="12700">
            <a:solidFill>
              <a:srgbClr val="1B16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1682496"/>
            <a:ext cx="2880360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B · SaaS + SIP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231136"/>
            <a:ext cx="2880360" cy="5029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Aptos"/>
              </a:rPr>
              <a:t>Starter AS-OOB SaaS com ISBC Cloud, setup promocionalmente isento.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1481328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9640" y="1682496"/>
            <a:ext cx="2880360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B1648"/>
                </a:solidFill>
                <a:latin typeface="Aptos"/>
              </a:rPr>
              <a:t>C · API direta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2231136"/>
            <a:ext cx="2880360" cy="5029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66657A"/>
                </a:solidFill>
                <a:latin typeface="Aptos"/>
              </a:rPr>
              <a:t>Tools/API REST para integração direta, sem SIP/ISBC.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355848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57016"/>
            <a:ext cx="2880360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B1648"/>
                </a:solidFill>
                <a:latin typeface="Aptos"/>
              </a:rPr>
              <a:t>D · Client ProSBC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105656"/>
            <a:ext cx="2880360" cy="5029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66657A"/>
                </a:solidFill>
                <a:latin typeface="Aptos"/>
              </a:rPr>
              <a:t>Licença anual por SBC; no primeiro SBC normalmente combina com setup.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80560" y="3355848"/>
            <a:ext cx="3337560" cy="1417320"/>
          </a:xfrm>
          <a:prstGeom prst="roundRect">
            <a:avLst/>
          </a:prstGeom>
          <a:solidFill>
            <a:srgbClr val="1B1648"/>
          </a:solidFill>
          <a:ln w="12700">
            <a:solidFill>
              <a:srgbClr val="1B16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09160" y="3557016"/>
            <a:ext cx="2880360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Pacote 1º SBC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4105656"/>
            <a:ext cx="2880360" cy="5029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Aptos"/>
              </a:rPr>
              <a:t>SETUP + Client ProSBC 1 ano com desconto promocional.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21040" y="3355848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9640" y="3557016"/>
            <a:ext cx="2880360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B1648"/>
                </a:solidFill>
                <a:latin typeface="Aptos"/>
              </a:rPr>
              <a:t>Modernize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4105656"/>
            <a:ext cx="2880360" cy="5029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66657A"/>
                </a:solidFill>
                <a:latin typeface="Aptos"/>
              </a:rPr>
              <a:t>Servidor + 500 sessões + setup + client quando precisa base funcional.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7680960" cy="7772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B1648"/>
                </a:solidFill>
                <a:latin typeface="Aptos"/>
              </a:rPr>
              <a:t>Matriz de recomendação comercial</a:t>
            </a:r>
          </a:p>
        </p:txBody>
      </p:sp>
      <p:pic>
        <p:nvPicPr>
          <p:cNvPr id="4" name="Picture 3" descr="logo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097280" cy="2593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6492240"/>
            <a:ext cx="731520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66657A"/>
                </a:solidFill>
                <a:latin typeface="Aptos"/>
              </a:rPr>
              <a:t>ZICTEC · Chamada Verificada · material técnico-comercial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508760"/>
          <a:ext cx="1083564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3383280"/>
                <a:gridCol w="4160520"/>
              </a:tblGrid>
              <a:tr h="646611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Sinal do cliente</a:t>
                      </a:r>
                    </a:p>
                  </a:txBody>
                  <a:tcPr>
                    <a:solidFill>
                      <a:srgbClr val="1B16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SKU / pacote</a:t>
                      </a:r>
                    </a:p>
                  </a:txBody>
                  <a:tcPr>
                    <a:solidFill>
                      <a:srgbClr val="1B16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Oferta sugerida</a:t>
                      </a:r>
                    </a:p>
                  </a:txBody>
                  <a:tcPr>
                    <a:solidFill>
                      <a:srgbClr val="1B1648"/>
                    </a:solidFill>
                  </a:tcPr>
                </a:tc>
              </a:tr>
              <a:tr h="646611"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171729"/>
                          </a:solidFill>
                        </a:rPr>
                        <a:t>Precisa SIP/ISBC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1">
                          <a:solidFill>
                            <a:srgbClr val="FF5A1F"/>
                          </a:solidFill>
                        </a:rPr>
                        <a:t>SAAS_STIAS_OOB_A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171729"/>
                          </a:solidFill>
                        </a:rPr>
                        <a:t>Starter AS-OOB SaaS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171729"/>
                          </a:solidFill>
                        </a:rPr>
                        <a:t>Consumo REST direto</a:t>
                      </a:r>
                    </a:p>
                  </a:txBody>
                  <a:tcPr>
                    <a:solidFill>
                      <a:srgbClr val="FF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1">
                          <a:solidFill>
                            <a:srgbClr val="FF5A1F"/>
                          </a:solidFill>
                        </a:rPr>
                        <a:t>ZT_STIAS_API_A</a:t>
                      </a:r>
                    </a:p>
                  </a:txBody>
                  <a:tcPr>
                    <a:solidFill>
                      <a:srgbClr val="FF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171729"/>
                          </a:solidFill>
                        </a:rPr>
                        <a:t>API REST Tools</a:t>
                      </a:r>
                    </a:p>
                  </a:txBody>
                  <a:tcPr>
                    <a:solidFill>
                      <a:srgbClr val="FFF1EA"/>
                    </a:solidFill>
                  </a:tcPr>
                </a:tc>
              </a:tr>
              <a:tr h="646611"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171729"/>
                          </a:solidFill>
                        </a:rPr>
                        <a:t>ProSBC adicional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1">
                          <a:solidFill>
                            <a:srgbClr val="FF5A1F"/>
                          </a:solidFill>
                        </a:rPr>
                        <a:t>ZT_STIAS_PROSBC_CLIENT_A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171729"/>
                          </a:solidFill>
                        </a:rPr>
                        <a:t>Client ProSBC por SBC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171729"/>
                          </a:solidFill>
                        </a:rPr>
                        <a:t>1º ProSBC sem servidor</a:t>
                      </a:r>
                    </a:p>
                  </a:txBody>
                  <a:tcPr>
                    <a:solidFill>
                      <a:srgbClr val="FF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1">
                          <a:solidFill>
                            <a:srgbClr val="FF5A1F"/>
                          </a:solidFill>
                        </a:rPr>
                        <a:t>ZT_STIAS_PROSBC_SETUP_CLIENT_A</a:t>
                      </a:r>
                    </a:p>
                  </a:txBody>
                  <a:tcPr>
                    <a:solidFill>
                      <a:srgbClr val="FF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171729"/>
                          </a:solidFill>
                        </a:rPr>
                        <a:t>Setup + Client</a:t>
                      </a:r>
                    </a:p>
                  </a:txBody>
                  <a:tcPr>
                    <a:solidFill>
                      <a:srgbClr val="FFF1EA"/>
                    </a:solidFill>
                  </a:tcPr>
                </a:tc>
              </a:tr>
              <a:tr h="646611"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171729"/>
                          </a:solidFill>
                        </a:rPr>
                        <a:t>Servidor funcional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1">
                          <a:solidFill>
                            <a:srgbClr val="FF5A1F"/>
                          </a:solidFill>
                        </a:rPr>
                        <a:t>ZT_PROSBC_HW500_STIAS_SETUP_CLIENT_A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171729"/>
                          </a:solidFill>
                        </a:rPr>
                        <a:t>Server + 500 + Setup + Client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6614"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171729"/>
                          </a:solidFill>
                        </a:rPr>
                        <a:t>Híbrido completo</a:t>
                      </a:r>
                    </a:p>
                  </a:txBody>
                  <a:tcPr>
                    <a:solidFill>
                      <a:srgbClr val="FF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1">
                          <a:solidFill>
                            <a:srgbClr val="FF5A1F"/>
                          </a:solidFill>
                        </a:rPr>
                        <a:t>ZT_PROSBC_HW500_STIAS_HYBRID_API_A</a:t>
                      </a:r>
                    </a:p>
                  </a:txBody>
                  <a:tcPr>
                    <a:solidFill>
                      <a:srgbClr val="FF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171729"/>
                          </a:solidFill>
                        </a:rPr>
                        <a:t>Server + Client + API Tools</a:t>
                      </a:r>
                    </a:p>
                  </a:txBody>
                  <a:tcPr>
                    <a:solidFill>
                      <a:srgbClr val="FFF1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7680960" cy="7772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B1648"/>
                </a:solidFill>
                <a:latin typeface="Aptos"/>
              </a:rPr>
              <a:t>Jornada ideal do cliente</a:t>
            </a:r>
          </a:p>
        </p:txBody>
      </p:sp>
      <p:pic>
        <p:nvPicPr>
          <p:cNvPr id="4" name="Picture 3" descr="logo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097280" cy="2593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6492240"/>
            <a:ext cx="731520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66657A"/>
                </a:solidFill>
                <a:latin typeface="Aptos"/>
              </a:rPr>
              <a:t>ZICTEC · Chamada Verificada · material técnico-comercial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02920" cy="502920"/>
          </a:xfrm>
          <a:prstGeom prst="roundRect">
            <a:avLst/>
          </a:prstGeom>
          <a:solidFill>
            <a:srgbClr val="FF5A1F"/>
          </a:solidFill>
          <a:ln w="12700">
            <a:solidFill>
              <a:srgbClr val="FF5A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545336"/>
            <a:ext cx="18288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527048"/>
            <a:ext cx="402336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600" b="1">
                <a:solidFill>
                  <a:srgbClr val="1B1648"/>
                </a:solidFill>
                <a:latin typeface="Aptos"/>
              </a:rPr>
              <a:t>Educar em 2 minutos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258568"/>
            <a:ext cx="502920" cy="502920"/>
          </a:xfrm>
          <a:prstGeom prst="roundRect">
            <a:avLst/>
          </a:prstGeom>
          <a:solidFill>
            <a:srgbClr val="FF5A1F"/>
          </a:solidFill>
          <a:ln w="12700">
            <a:solidFill>
              <a:srgbClr val="FF5A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18288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368296"/>
            <a:ext cx="402336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600" b="1">
                <a:solidFill>
                  <a:srgbClr val="1B1648"/>
                </a:solidFill>
                <a:latin typeface="Aptos"/>
              </a:rPr>
              <a:t>Escolher objetivo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99816"/>
            <a:ext cx="502920" cy="502920"/>
          </a:xfrm>
          <a:prstGeom prst="roundRect">
            <a:avLst/>
          </a:prstGeom>
          <a:solidFill>
            <a:srgbClr val="FF5A1F"/>
          </a:solidFill>
          <a:ln w="12700">
            <a:solidFill>
              <a:srgbClr val="FF5A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227832"/>
            <a:ext cx="18288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209544"/>
            <a:ext cx="402336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600" b="1">
                <a:solidFill>
                  <a:srgbClr val="1B1648"/>
                </a:solidFill>
                <a:latin typeface="Aptos"/>
              </a:rPr>
              <a:t>Responder checklist técnico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941064"/>
            <a:ext cx="502920" cy="502920"/>
          </a:xfrm>
          <a:prstGeom prst="roundRect">
            <a:avLst/>
          </a:prstGeom>
          <a:solidFill>
            <a:srgbClr val="FF5A1F"/>
          </a:solidFill>
          <a:ln w="12700">
            <a:solidFill>
              <a:srgbClr val="FF5A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4069080"/>
            <a:ext cx="18288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050792"/>
            <a:ext cx="402336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600" b="1">
                <a:solidFill>
                  <a:srgbClr val="1B1648"/>
                </a:solidFill>
                <a:latin typeface="Aptos"/>
              </a:rPr>
              <a:t>Receber pacote recomendado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782312"/>
            <a:ext cx="502920" cy="502920"/>
          </a:xfrm>
          <a:prstGeom prst="roundRect">
            <a:avLst/>
          </a:prstGeom>
          <a:solidFill>
            <a:srgbClr val="FF5A1F"/>
          </a:solidFill>
          <a:ln w="12700">
            <a:solidFill>
              <a:srgbClr val="FF5A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4910328"/>
            <a:ext cx="18288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4892040"/>
            <a:ext cx="402336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600" b="1">
                <a:solidFill>
                  <a:srgbClr val="1B1648"/>
                </a:solidFill>
                <a:latin typeface="Aptos"/>
              </a:rPr>
              <a:t>Checkout ou lead qualificado</a:t>
            </a:r>
          </a:p>
        </p:txBody>
      </p:sp>
      <p:pic>
        <p:nvPicPr>
          <p:cNvPr id="21" name="Picture 20" descr="techni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417320"/>
            <a:ext cx="4663440" cy="27051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7680960" cy="7772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B1648"/>
                </a:solidFill>
                <a:latin typeface="Aptos"/>
              </a:rPr>
              <a:t>Checklist de contratação / kickoff</a:t>
            </a:r>
          </a:p>
        </p:txBody>
      </p:sp>
      <p:pic>
        <p:nvPicPr>
          <p:cNvPr id="4" name="Picture 3" descr="logo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097280" cy="2593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6492240"/>
            <a:ext cx="731520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66657A"/>
                </a:solidFill>
                <a:latin typeface="Aptos"/>
              </a:rPr>
              <a:t>ZICTEC · Chamada Verificada · material técnico-comercial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33375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75688"/>
            <a:ext cx="2880360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B1648"/>
                </a:solidFill>
                <a:latin typeface="Aptos"/>
              </a:rPr>
              <a:t>Cliente e regulatório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24327"/>
            <a:ext cx="2880360" cy="15087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66657A"/>
                </a:solidFill>
                <a:latin typeface="Aptos"/>
              </a:rPr>
              <a:t>Razão social, CNPJ, responsável técnico, status ABR e credenciais.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874519"/>
            <a:ext cx="33375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075688"/>
            <a:ext cx="2880360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B1648"/>
                </a:solidFill>
                <a:latin typeface="Aptos"/>
              </a:rPr>
              <a:t>Topologia e tráfego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24327"/>
            <a:ext cx="2880360" cy="15087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66657A"/>
                </a:solidFill>
                <a:latin typeface="Aptos"/>
              </a:rPr>
              <a:t>SBC/vendor, rotas, volumetria, IN-BAND/OUT-OF-BAND e hardware.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874519"/>
            <a:ext cx="33375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075688"/>
            <a:ext cx="2880360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B1648"/>
                </a:solidFill>
                <a:latin typeface="Aptos"/>
              </a:rPr>
              <a:t>Operação e aceite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624327"/>
            <a:ext cx="2880360" cy="15087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66657A"/>
                </a:solidFill>
                <a:latin typeface="Aptos"/>
              </a:rPr>
              <a:t>Relatórios, suporte pós-go-live, premissas fora de escopo e critério de aceite.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7680960" cy="7772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B1648"/>
                </a:solidFill>
                <a:latin typeface="Aptos"/>
              </a:rPr>
              <a:t>Pacotes e valores de referência</a:t>
            </a:r>
          </a:p>
        </p:txBody>
      </p:sp>
      <p:pic>
        <p:nvPicPr>
          <p:cNvPr id="4" name="Picture 3" descr="logo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097280" cy="2593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6492240"/>
            <a:ext cx="731520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66657A"/>
                </a:solidFill>
                <a:latin typeface="Aptos"/>
              </a:rPr>
              <a:t>ZICTEC · Chamada Verificada · material técnico-comercial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507492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81912"/>
            <a:ext cx="269748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50" b="1">
                <a:solidFill>
                  <a:srgbClr val="FF5A1F"/>
                </a:solidFill>
                <a:latin typeface="Aptos"/>
              </a:rPr>
              <a:t>SAAS_STIAS_OOB_A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01952"/>
            <a:ext cx="288036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B1648"/>
                </a:solidFill>
                <a:latin typeface="Aptos"/>
              </a:rPr>
              <a:t>Starter AS-OOB SaaS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764792"/>
            <a:ext cx="1508760" cy="3200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/>
            <a:r>
              <a:rPr sz="1500" b="1">
                <a:solidFill>
                  <a:srgbClr val="1B1648"/>
                </a:solidFill>
                <a:latin typeface="Aptos"/>
              </a:rPr>
              <a:t>R$ 39.000,00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17320"/>
            <a:ext cx="507492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581912"/>
            <a:ext cx="269748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50" b="1">
                <a:solidFill>
                  <a:srgbClr val="FF5A1F"/>
                </a:solidFill>
                <a:latin typeface="Aptos"/>
              </a:rPr>
              <a:t>ZT_STIAS_API_A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901952"/>
            <a:ext cx="288036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B1648"/>
                </a:solidFill>
                <a:latin typeface="Aptos"/>
              </a:rPr>
              <a:t>API REST 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64040" y="1764792"/>
            <a:ext cx="1508760" cy="3200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/>
            <a:r>
              <a:rPr sz="1500" b="1">
                <a:solidFill>
                  <a:srgbClr val="1B1648"/>
                </a:solidFill>
                <a:latin typeface="Aptos"/>
              </a:rPr>
              <a:t>R$ 31.200,00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834640"/>
            <a:ext cx="507492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999232"/>
            <a:ext cx="269748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50" b="1">
                <a:solidFill>
                  <a:srgbClr val="FF5A1F"/>
                </a:solidFill>
                <a:latin typeface="Aptos"/>
              </a:rPr>
              <a:t>ZT_STIAS_PROSBC_CLIENT_A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319272"/>
            <a:ext cx="288036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B1648"/>
                </a:solidFill>
                <a:latin typeface="Aptos"/>
              </a:rPr>
              <a:t>Client ProSBC anual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182112"/>
            <a:ext cx="1508760" cy="3200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/>
            <a:r>
              <a:rPr sz="1500" b="1">
                <a:solidFill>
                  <a:srgbClr val="1B1648"/>
                </a:solidFill>
                <a:latin typeface="Aptos"/>
              </a:rPr>
              <a:t>R$ 12.000,00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834640"/>
            <a:ext cx="507492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5A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999232"/>
            <a:ext cx="269748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50" b="1">
                <a:solidFill>
                  <a:srgbClr val="FF5A1F"/>
                </a:solidFill>
                <a:latin typeface="Aptos"/>
              </a:rPr>
              <a:t>ZT_STIAS_PROSBC_SETUP_CLIENT_A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319272"/>
            <a:ext cx="288036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B1648"/>
                </a:solidFill>
                <a:latin typeface="Aptos"/>
              </a:rPr>
              <a:t>SETUP + Client 1º ano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3182112"/>
            <a:ext cx="1508760" cy="3200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/>
            <a:r>
              <a:rPr sz="1500" b="1">
                <a:solidFill>
                  <a:srgbClr val="1B1648"/>
                </a:solidFill>
                <a:latin typeface="Aptos"/>
              </a:rPr>
              <a:t>R$ 18.400,04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251960"/>
            <a:ext cx="507492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416552"/>
            <a:ext cx="269748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50" b="1">
                <a:solidFill>
                  <a:srgbClr val="FF5A1F"/>
                </a:solidFill>
                <a:latin typeface="Aptos"/>
              </a:rPr>
              <a:t>ZT_PROSBC_HW500_STIAS_SETUP_CLIENT_A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736592"/>
            <a:ext cx="288036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B1648"/>
                </a:solidFill>
                <a:latin typeface="Aptos"/>
              </a:rPr>
              <a:t>Server + 500 + SETUP + Client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4599432"/>
            <a:ext cx="1508760" cy="3200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/>
            <a:r>
              <a:rPr sz="1500" b="1">
                <a:solidFill>
                  <a:srgbClr val="1B1648"/>
                </a:solidFill>
                <a:latin typeface="Aptos"/>
              </a:rPr>
              <a:t>R$ 33.864,44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4251960"/>
            <a:ext cx="507492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5A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4416552"/>
            <a:ext cx="269748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50" b="1">
                <a:solidFill>
                  <a:srgbClr val="FF5A1F"/>
                </a:solidFill>
                <a:latin typeface="Aptos"/>
              </a:rPr>
              <a:t>ZT_PROSBC_HW500_STIAS_HYBRID_API_A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4736592"/>
            <a:ext cx="288036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B1648"/>
                </a:solidFill>
                <a:latin typeface="Aptos"/>
              </a:rPr>
              <a:t>Server + Client + API Tools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4040" y="4599432"/>
            <a:ext cx="1508760" cy="3200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/>
            <a:r>
              <a:rPr sz="1500" b="1">
                <a:solidFill>
                  <a:srgbClr val="1B1648"/>
                </a:solidFill>
                <a:latin typeface="Aptos"/>
              </a:rPr>
              <a:t>R$ 49.464,44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" y="5989320"/>
            <a:ext cx="1060704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FF5A1F"/>
                </a:solidFill>
                <a:latin typeface="Aptos"/>
              </a:rPr>
              <a:t>Nota: pacote híbrido 1º ano usa cupom promocional hybrid7800 conforme página do shop.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7680960" cy="7772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B1648"/>
                </a:solidFill>
                <a:latin typeface="Aptos"/>
              </a:rPr>
              <a:t>Premissas e limites de escopo</a:t>
            </a:r>
          </a:p>
        </p:txBody>
      </p:sp>
      <p:pic>
        <p:nvPicPr>
          <p:cNvPr id="4" name="Picture 3" descr="logo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097280" cy="2593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6492240"/>
            <a:ext cx="731520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66657A"/>
                </a:solidFill>
                <a:latin typeface="Aptos"/>
              </a:rPr>
              <a:t>ZICTEC · Chamada Verificada · material técnico-comercial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00200"/>
            <a:ext cx="4937760" cy="1143000"/>
          </a:xfrm>
          <a:prstGeom prst="roundRect">
            <a:avLst/>
          </a:prstGeom>
          <a:solidFill>
            <a:srgbClr val="1B1648"/>
          </a:solidFill>
          <a:ln w="12700">
            <a:solidFill>
              <a:srgbClr val="1B16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01368"/>
            <a:ext cx="4480560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Compra inicia validação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50008"/>
            <a:ext cx="448056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Aptos"/>
              </a:rPr>
              <a:t>Produção depende de ambiente, rotas, credenciais, homologação e aceite.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600200"/>
            <a:ext cx="493776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801368"/>
            <a:ext cx="4480560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B1648"/>
                </a:solidFill>
                <a:latin typeface="Aptos"/>
              </a:rPr>
              <a:t>Setup não é licença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50008"/>
            <a:ext cx="448056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66657A"/>
                </a:solidFill>
                <a:latin typeface="Aptos"/>
              </a:rPr>
              <a:t>Para ProSBC, setup precisa ser combinado com Client ou pacote fechado.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200400"/>
            <a:ext cx="493776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401568"/>
            <a:ext cx="4480560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B1648"/>
                </a:solidFill>
                <a:latin typeface="Aptos"/>
              </a:rPr>
              <a:t>API ≠ ISBC Cloud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50208"/>
            <a:ext cx="448056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66657A"/>
                </a:solidFill>
                <a:latin typeface="Aptos"/>
              </a:rPr>
              <a:t>REST direto, SIP via ISBC e Client ProSBC são canais diferentes.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200400"/>
            <a:ext cx="493776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401568"/>
            <a:ext cx="4480560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B1648"/>
                </a:solidFill>
                <a:latin typeface="Aptos"/>
              </a:rPr>
              <a:t>Servidor físico é variação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950208"/>
            <a:ext cx="448056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66657A"/>
                </a:solidFill>
                <a:latin typeface="Aptos"/>
              </a:rPr>
              <a:t>Pacotes com hardware devem deixar claro o que renova no segundo ano.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7680960" cy="7772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ptos"/>
              </a:rPr>
              <a:t>Próximo passo comercial</a:t>
            </a:r>
          </a:p>
        </p:txBody>
      </p:sp>
      <p:pic>
        <p:nvPicPr>
          <p:cNvPr id="4" name="Picture 3" descr="logo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097280" cy="2593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6492240"/>
            <a:ext cx="731520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B4B4C6"/>
                </a:solidFill>
                <a:latin typeface="Aptos"/>
              </a:rPr>
              <a:t>ZICTEC · Chamada Verificada · material técnico-comercial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33375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75688"/>
            <a:ext cx="2880360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B1648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24327"/>
            <a:ext cx="2880360" cy="15087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66657A"/>
                </a:solidFill>
                <a:latin typeface="Aptos"/>
              </a:rPr>
              <a:t>Usar o configurador para pré-qualificar cenário e SKU.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874519"/>
            <a:ext cx="33375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075688"/>
            <a:ext cx="2880360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B1648"/>
                </a:solidFill>
                <a:latin typeface="Apto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24327"/>
            <a:ext cx="2880360" cy="15087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66657A"/>
                </a:solidFill>
                <a:latin typeface="Aptos"/>
              </a:rPr>
              <a:t>Copiar briefing para pré-venda/técnico antes do checkout.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874519"/>
            <a:ext cx="33375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075688"/>
            <a:ext cx="2880360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B1648"/>
                </a:solidFill>
                <a:latin typeface="Apto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624327"/>
            <a:ext cx="2880360" cy="15087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66657A"/>
                </a:solidFill>
                <a:latin typeface="Aptos"/>
              </a:rPr>
              <a:t>Direcionar compra direta, validação obrigatória ou proposta formal.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